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1463040"/>
            <a:ext cx="4206240" cy="420624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7863840"/>
            <a:ext cx="4023360" cy="4023360"/>
          </a:xfrm>
          <a:prstGeom prst="ellipse">
            <a:avLst/>
          </a:prstGeom>
          <a:solidFill>
            <a:srgbClr val="6A1B4D"/>
          </a:solidFill>
          <a:ln/>
        </p:spPr>
      </p:sp>
      <p:sp>
        <p:nvSpPr>
          <p:cNvPr id="4" name="Shape 2"/>
          <p:cNvSpPr/>
          <p:nvPr/>
        </p:nvSpPr>
        <p:spPr>
          <a:xfrm>
            <a:off x="3090672" y="246888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255264" y="3090672"/>
            <a:ext cx="189281" cy="0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44545" y="3090672"/>
            <a:ext cx="73609" cy="-128016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18154" y="2962656"/>
            <a:ext cx="115672" cy="256032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33826" y="3218688"/>
            <a:ext cx="94640" cy="-182880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28466" y="3035808"/>
            <a:ext cx="52578" cy="54864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81044" y="3090672"/>
            <a:ext cx="525780" cy="0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97680"/>
            <a:ext cx="64648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نَبْضة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548640" y="5440680"/>
            <a:ext cx="6464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F48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نبضة حب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6583680"/>
            <a:ext cx="6464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D8C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الهوية البصرية واللفظية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713232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B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الإصدار 1.0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٠١ · العلامة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الشعار واستخداماته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464808" cy="2926080"/>
          </a:xfrm>
          <a:prstGeom prst="roundRect">
            <a:avLst>
              <a:gd name="adj" fmla="val 3125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73552" y="2148840"/>
            <a:ext cx="1234440" cy="1234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419856" y="2724912"/>
            <a:ext cx="172822" cy="0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92678" y="2724912"/>
            <a:ext cx="67208" cy="-128016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9886" y="2596896"/>
            <a:ext cx="105613" cy="256032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65499" y="2852928"/>
            <a:ext cx="86411" cy="-182880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51910" y="2670048"/>
            <a:ext cx="48006" cy="54864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99916" y="2724912"/>
            <a:ext cx="480060" cy="0"/>
          </a:xfrm>
          <a:prstGeom prst="line">
            <a:avLst/>
          </a:prstGeom>
          <a:noFill/>
          <a:ln w="2794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نَبْضة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نبضة حب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6464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5257800"/>
            <a:ext cx="6464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خطّ نبض القلب يتحوّل في منتصفه إلى قلب — يجمع البُعد الطبي والعاطفي في رمز واحد، داخل دائرة ناعمة توحي بالاحتواء والحماية.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6172200"/>
            <a:ext cx="3145536" cy="356616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6355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مساحة الأمان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68122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اترك حول الشعار فراغاً لا يقلّ عن نصف قطر الدائرة. لا تزدحمه بعناصر أخرى، ولا تصغّره تحت 24px عرضاً.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67912" y="6172200"/>
            <a:ext cx="3145536" cy="356616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50792" y="6355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ممنوع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050792" y="68122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buSzPct val="100000"/>
              <a:buChar char="•"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تشويه النِسب أو تدويره</a:t>
            </a:r>
            <a:endParaRPr lang="en-US" sz="1250" dirty="0"/>
          </a:p>
          <a:p>
            <a:pPr algn="r" marL="342900" indent="-342900">
              <a:buSzPct val="100000"/>
              <a:buChar char="•"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تغيير ألوان العلامة</a:t>
            </a:r>
            <a:endParaRPr lang="en-US" sz="1250" dirty="0"/>
          </a:p>
          <a:p>
            <a:pPr algn="r" marL="342900" indent="-342900">
              <a:buSzPct val="100000"/>
              <a:buChar char="•"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وضعه على خلفية منخفضة التباين</a:t>
            </a:r>
            <a:endParaRPr lang="en-US" sz="1250" dirty="0"/>
          </a:p>
          <a:p>
            <a:pPr algn="r" marL="342900" indent="-342900">
              <a:buSzPct val="100000"/>
              <a:buChar char="•"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ظلال أو تأثيرات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10195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نَبْضة · دليل الهوية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10195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٠٢ · اللون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الألوان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37760" y="1691640"/>
            <a:ext cx="2075688" cy="1234440"/>
          </a:xfrm>
          <a:prstGeom prst="roundRect">
            <a:avLst>
              <a:gd name="adj" fmla="val 5926"/>
            </a:avLst>
          </a:prstGeom>
          <a:solidFill>
            <a:srgbClr val="00897B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تيل نبضة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‪#00897B‬  ·  اللون الأساسي · 60%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الصحة، الهدوء، الثقة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3154680"/>
            <a:ext cx="2075688" cy="1234440"/>
          </a:xfrm>
          <a:prstGeom prst="roundRect">
            <a:avLst>
              <a:gd name="adj" fmla="val 5926"/>
            </a:avLst>
          </a:prstGeom>
          <a:solidFill>
            <a:srgbClr val="E91E63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وردي نبضة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‪#E91E63‬  ·  اللون المميّز · 25%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9593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الأنوثة، الدفء، الحب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4617720"/>
            <a:ext cx="2075688" cy="1234440"/>
          </a:xfrm>
          <a:prstGeom prst="roundRect">
            <a:avLst>
              <a:gd name="adj" fmla="val 5926"/>
            </a:avLst>
          </a:prstGeom>
          <a:solidFill>
            <a:srgbClr val="6A1B4D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63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برقوقي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‪#6A1B4D‬  ·  داعم · 10%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4223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العمق والفخامة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6080760"/>
            <a:ext cx="2075688" cy="1234440"/>
          </a:xfrm>
          <a:prstGeom prst="roundRect">
            <a:avLst>
              <a:gd name="adj" fmla="val 5926"/>
            </a:avLst>
          </a:prstGeom>
          <a:solidFill>
            <a:srgbClr val="C9A24B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126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ذهبي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‪#C9A24B‬  ·  تميّز · 5%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885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للمنتجات المميّزة (نبضة+ والصناديق)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7543800"/>
            <a:ext cx="2075688" cy="1234440"/>
          </a:xfrm>
          <a:prstGeom prst="roundRect">
            <a:avLst>
              <a:gd name="adj" fmla="val 5926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75895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كريمي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" y="8001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‪#FFF8F5‬  ·  خلفية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83484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خلفية ناعمة مريحة للعين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914400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الهيمنة: لون واحد يسود (التيل)، ولون مميّز حادّ (الوردي)، ودعم محدود — لا توزّع الألوان بالتساوي أبداً.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10195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نَبْضة · دليل الهوية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10195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٠٣ · الخط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الطباعة والخطوط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64808" cy="2194560"/>
          </a:xfrm>
          <a:prstGeom prst="roundRect">
            <a:avLst>
              <a:gd name="adj" fmla="val 4167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 الأساسي — المراعي (Almarai)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عربي حديث وواضح، محسّن للشاشات. يُستخدم لكل نصوص الواجهة والمحتوى.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أبجد هوز حطي كلمن · نبضة رفيقتكِ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646480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4206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العناوين العاطفية — أميري (Amiri)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للمسة أصيلة في العناوين والمحتوى الديني/الروحي.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98348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نبضة حب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6080760"/>
            <a:ext cx="6464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التدرّج الطباعي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6583680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عنوان رئيسي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28–36 نقطة · عريض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7086600"/>
            <a:ext cx="6464808" cy="0"/>
          </a:xfrm>
          <a:prstGeom prst="line">
            <a:avLst/>
          </a:prstGeom>
          <a:noFill/>
          <a:ln w="12700">
            <a:solidFill>
              <a:srgbClr val="EADF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7242048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عنوان فرعي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72420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20–24 نقطة · عريض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7744968"/>
            <a:ext cx="6464808" cy="0"/>
          </a:xfrm>
          <a:prstGeom prst="line">
            <a:avLst/>
          </a:prstGeom>
          <a:noFill/>
          <a:ln w="12700">
            <a:solidFill>
              <a:srgbClr val="EADF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7900416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نصّ الجسم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79004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14–16 نقطة · عادي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8403336"/>
            <a:ext cx="6464808" cy="0"/>
          </a:xfrm>
          <a:prstGeom prst="line">
            <a:avLst/>
          </a:prstGeom>
          <a:noFill/>
          <a:ln w="12700">
            <a:solidFill>
              <a:srgbClr val="EADF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8558784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تسمية توضيحية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855878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 نقطة · باهت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9061704"/>
            <a:ext cx="6464808" cy="0"/>
          </a:xfrm>
          <a:prstGeom prst="line">
            <a:avLst/>
          </a:prstGeom>
          <a:noFill/>
          <a:ln w="12700">
            <a:solidFill>
              <a:srgbClr val="EADF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10195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نَبْضة · دليل الهوية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10195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٠٤ · الصوت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نبرة الصوت والشخصية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648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النموذج الأصيل: الراعية الحكيمة — مزيج من الأم الحنون والمرشدة العالِمة. دافئة، واثقة، مطمْئِنة، بسيطة دون تسطيح.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145536" cy="420624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نقول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تقلقي، هذا طبيعي في هذه المرحلة.</a:t>
            </a:r>
            <a:endParaRPr lang="en-US" sz="1300" dirty="0"/>
          </a:p>
          <a:p>
            <a:pPr algn="r" marL="342900" indent="-342900"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جهّزنا لكِ كل ما تحتاجينه.</a:t>
            </a:r>
            <a:endParaRPr lang="en-US" sz="1300" dirty="0"/>
          </a:p>
          <a:p>
            <a:pPr algn="r" marL="342900" indent="-342900"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أنتِ تقومين بعمل رائع.</a:t>
            </a:r>
            <a:endParaRPr lang="en-US" sz="1300" dirty="0"/>
          </a:p>
          <a:p>
            <a:pPr algn="r" marL="342900" indent="-342900"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نحن معكِ في كل خطوة.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67912" y="2468880"/>
            <a:ext cx="3145536" cy="420624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50792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نقول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50792" y="310896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342900" indent="-342900"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الأعراض تندرج ضمن النطاق الفسيولوجي.</a:t>
            </a:r>
            <a:endParaRPr lang="en-US" sz="1300" dirty="0"/>
          </a:p>
          <a:p>
            <a:pPr algn="r" marL="342900" indent="-342900"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اشترِ الآن! عرض لا يفوّت!</a:t>
            </a:r>
            <a:endParaRPr lang="en-US" sz="1300" dirty="0"/>
          </a:p>
          <a:p>
            <a:pPr algn="r" marL="342900" indent="-342900"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يجب عليكِ فعل كذا وإلا…</a:t>
            </a:r>
            <a:endParaRPr lang="en-US" sz="1300" dirty="0"/>
          </a:p>
          <a:p>
            <a:pPr algn="r" marL="342900" indent="-342900"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 طبية باردة أو وعظ.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949440"/>
            <a:ext cx="64648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الركائز الأربع: الثقة · القرب · الأصالة · التمكين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10195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نَبْضة · دليل الهوية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10195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٠٥ · التطبيق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4648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 العلامة والتطبيقات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64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علامة أمّ واحدة قوية تحتها خطوط فرعية موسومة: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145536" cy="1280160"/>
          </a:xfrm>
          <a:prstGeom prst="roundRect">
            <a:avLst>
              <a:gd name="adj" fmla="val 7143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54203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نبضة+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358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الاشتراك المميّز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67912" y="2286000"/>
            <a:ext cx="3145536" cy="1280160"/>
          </a:xfrm>
          <a:prstGeom prst="roundRect">
            <a:avLst>
              <a:gd name="adj" fmla="val 7143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96512" y="2560320"/>
            <a:ext cx="502920" cy="502920"/>
          </a:xfrm>
          <a:prstGeom prst="ellipse">
            <a:avLst/>
          </a:prstGeom>
          <a:solidFill>
            <a:srgbClr val="E91E63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54203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91E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متجر نبضة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50792" y="30358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التجارة الإلكترونية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145536" cy="1280160"/>
          </a:xfrm>
          <a:prstGeom prst="roundRect">
            <a:avLst>
              <a:gd name="adj" fmla="val 7143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400507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صندوق نبضة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4988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شهري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67912" y="3749040"/>
            <a:ext cx="3145536" cy="1280160"/>
          </a:xfrm>
          <a:prstGeom prst="roundRect">
            <a:avLst>
              <a:gd name="adj" fmla="val 7143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96512" y="4023360"/>
            <a:ext cx="502920" cy="502920"/>
          </a:xfrm>
          <a:prstGeom prst="ellipse">
            <a:avLst/>
          </a:prstGeom>
          <a:solidFill>
            <a:srgbClr val="6A1B4D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400507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6A1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عيادة نبضة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50792" y="449884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استشارات عن بُعد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3145536" cy="1280160"/>
          </a:xfrm>
          <a:prstGeom prst="roundRect">
            <a:avLst>
              <a:gd name="adj" fmla="val 7143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486400"/>
            <a:ext cx="502920" cy="50292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546811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أكاديمية نبضة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59618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دورات ومحتوى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867912" y="5212080"/>
            <a:ext cx="3145536" cy="1280160"/>
          </a:xfrm>
          <a:prstGeom prst="roundRect">
            <a:avLst>
              <a:gd name="adj" fmla="val 7143"/>
            </a:avLst>
          </a:prstGeom>
          <a:solidFill>
            <a:srgbClr val="FFF8F5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96512" y="5486400"/>
            <a:ext cx="502920" cy="502920"/>
          </a:xfrm>
          <a:prstGeom prst="ellipse">
            <a:avLst/>
          </a:prstGeom>
          <a:solidFill>
            <a:srgbClr val="F48FB1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546811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48F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مجتمع نبضة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50792" y="59618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تفاعل ودعم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6858000"/>
            <a:ext cx="6464808" cy="2468880"/>
          </a:xfrm>
          <a:prstGeom prst="roundRect">
            <a:avLst>
              <a:gd name="adj" fmla="val 3704"/>
            </a:avLst>
          </a:prstGeom>
          <a:solidFill>
            <a:srgbClr val="6A1B4D"/>
          </a:solidFill>
          <a:ln w="12700">
            <a:solidFill>
              <a:srgbClr val="EAD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70408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مبدأ التطبيق الجوهري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7240" y="749808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F3E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«حلقة المرحلة»: استخدم بيانات مرحلة المرأة لتقديم المحتوى والمنتج الصحيح في اللحظة الصحيحة. هذا ما يوحّد الهوية عبر كل نقاط التماس — من التطبيق إلى المتجر إلى الإعلان.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10195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نَبْضة · دليل الهوية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10195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دليل هوية نبضة</dc:title>
  <dc:subject>PptxGenJS Presentation</dc:subject>
  <dc:creator>Nabda</dc:creator>
  <cp:lastModifiedBy>Nabda</cp:lastModifiedBy>
  <cp:revision>1</cp:revision>
  <dcterms:created xsi:type="dcterms:W3CDTF">2026-07-07T04:23:26Z</dcterms:created>
  <dcterms:modified xsi:type="dcterms:W3CDTF">2026-07-07T04:23:26Z</dcterms:modified>
</cp:coreProperties>
</file>