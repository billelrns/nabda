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4572000" cy="4572000"/>
          </a:xfrm>
          <a:prstGeom prst="ellipse">
            <a:avLst/>
          </a:prstGeom>
          <a:solidFill>
            <a:srgbClr val="6A1B4D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8229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463040"/>
            <a:ext cx="189281" cy="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headEnd type="none"/>
          </a:ln>
        </p:spPr>
      </p:sp>
      <p:sp>
        <p:nvSpPr>
          <p:cNvPr id="6" name="Shape 4"/>
          <p:cNvSpPr/>
          <p:nvPr/>
        </p:nvSpPr>
        <p:spPr>
          <a:xfrm>
            <a:off x="1268273" y="1463040"/>
            <a:ext cx="73609" cy="-16002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headEnd type="none"/>
          </a:ln>
        </p:spPr>
      </p:sp>
      <p:sp>
        <p:nvSpPr>
          <p:cNvPr id="7" name="Shape 5"/>
          <p:cNvSpPr/>
          <p:nvPr/>
        </p:nvSpPr>
        <p:spPr>
          <a:xfrm>
            <a:off x="1341882" y="1303020"/>
            <a:ext cx="115672" cy="32004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1457554" y="1623060"/>
            <a:ext cx="94640" cy="-22860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headEnd type="none"/>
          </a:ln>
        </p:spPr>
      </p:sp>
      <p:sp>
        <p:nvSpPr>
          <p:cNvPr id="9" name="Shape 7"/>
          <p:cNvSpPr/>
          <p:nvPr/>
        </p:nvSpPr>
        <p:spPr>
          <a:xfrm>
            <a:off x="1552194" y="1394460"/>
            <a:ext cx="52578" cy="6858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1604772" y="1463040"/>
            <a:ext cx="525780" cy="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  <a:headEnd type="none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</a:t>
            </a:r>
            <a:endParaRPr lang="en-US" sz="76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F4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نبضة حب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رفيقة رقمية عربية للمرأة — من الدورة إلى الحمل إلى الطفل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دراسة سوق · هوية براند · خريطة منتجات   |   العالم العربي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الفرصة: سوق مُجزّأ ينتظر من يوحّده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المرأة العربية تنتقل بين ثلاثة تطبيقات منفصلة — ولا أحد يخدم رحلتها كاملة بالعربية.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تطبيقات تتبّع أجنبية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 و Clue — مترجمة لا أصيلة، بلا مراعاة ثقافية أو دينية، وبلا تجارة.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79392" y="20574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377440"/>
            <a:ext cx="777240" cy="77724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377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07992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منصّات محتوى منفصلة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07992" y="3977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أمومة عربي — لكن بلا أدوات ولا مجتمع حيّ ولا متجر.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10144" y="20574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377440"/>
            <a:ext cx="777240" cy="77724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377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38744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متاجر أمومة منفصلة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38744" y="39776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تبيع المنتجات — لكن بلا رفقة يومية ولا معرفة بمرحلة المرأة.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تجربة مبعثرة، وفرصة ذهبية لمنصّة عربية واحدة تجمع كل شيء.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نبضة — منظومة متكاملة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أوضاع ترافق المرأة عبر حياتها، وطبقة خدمات تخدمها كلها.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194560"/>
            <a:ext cx="731520" cy="73152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الدورة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تتبّع، أعراض، نافذة الخصوبة والإباضة، توقّعات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79392" y="196596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50992" y="2194560"/>
            <a:ext cx="731520" cy="7315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5650992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62272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الحمل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53712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تقويم أسبوعي، حجم الجنين، عدّاد ركلات، تغذية، تمارين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10144" y="196596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81744" y="2194560"/>
            <a:ext cx="731520" cy="731520"/>
          </a:xfrm>
          <a:prstGeom prst="ellipse">
            <a:avLst/>
          </a:prstGeom>
          <a:solidFill>
            <a:srgbClr val="6A1B4D"/>
          </a:solidFill>
          <a:ln/>
        </p:spPr>
      </p:sp>
      <p:sp>
        <p:nvSpPr>
          <p:cNvPr id="16" name="Text 14"/>
          <p:cNvSpPr/>
          <p:nvPr/>
        </p:nvSpPr>
        <p:spPr>
          <a:xfrm>
            <a:off x="9381744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👶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193024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 الطفل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4464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الطفل، تطعيمات، أسماء المواليد، رعاية بالعمر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تخدم الجميع: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مساعد ذكاء اصطناعي   ·   🛍️ متجر نبضة + دفع محلّي   ·   👩‍⚕️ استشارات وأطباء   ·   👭 مجتمع وتلعيب   ·   📊 متتبّعات صحية   ·   🕌 محتوى ديني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السوق والفرصة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 مليار $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سوق FemTech العالمي 2025 — نحو 97 ملياراً بحلول 2030 (نمو 16% سنوياً)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9632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73952" y="1783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 مليون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73952" y="2606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ولادة سنوياً في العالم العربي — قمع دائم من العميلات الجدد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~115 مليون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امرأة في سن الإنجاب (15–49) في العالم العربي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9632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3952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سنوياً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73952" y="4892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قطاع FemTech في الشرق الأوسط وشمال إفريقيا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4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المنطقة العربية تملك ما تفتقده الأسواق الغربية: خصوبة أعلى وسكان شباب.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الجمهور: امرأة واحدة، أربع مراحل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جوهر القيمة مدى الحياة (LTV): نرافقها من أول دورة إلى أمومتها.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48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الواعية بصحّتها (20–45)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ومحتوى صحي — القمع الأعلى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46704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9584" y="2148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سلمى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9584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الباحثة عن الحمل (24–32)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5304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خصوبة، اختبارات، استشارة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44768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27648" y="2148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هبة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7648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الحامل لأول مرة (26–35)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3368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متابعة، طمأنة، ملابس وحقيبة ولادة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42832" y="19659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25712" y="2148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أمينة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25712" y="2606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 الجديدة (25–38)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71432" y="32004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تطعيم، رضاعة، لوازم وصناديق شهرية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FDEEF3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617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التقسيم الجغرافي بحسب الدفع: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الخليج → اشتراكات واستشارات ومتجر مميّز   ·   مصر → إعلانات ومحتوى وتجارة COD   ·   المغرب العربي → تجارة الدفع عند الاستلام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المنافسون والخندق التنافسي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0" y="1600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0" y="1600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الفجوة التي تستغلّها نبضة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749808"/>
          </a:xfrm>
          <a:prstGeom prst="rect">
            <a:avLst/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214884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 / Clue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21488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دقيق، ملايين المستخدمين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أجنبي، بلا رحلة كاملة، بلا تجارة أو مراعاة ثقافية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091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2898648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منصّات المحتوى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89864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عربي واسع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2898648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فقط — بلا أدوات ولا تجارة ولا مجتمع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11091672" cy="749808"/>
          </a:xfrm>
          <a:prstGeom prst="rect">
            <a:avLst/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3648456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متاجر الأمومة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64845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تشكيلة ولوجستيك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3648456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متجر فقط — بلا رفقة يومية ولا معرفة بالمرحلة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11091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439826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تطبيقات محلية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4398264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بسيطة ومجانية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4398264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سطحية — بلا نظام بيئي ولا دخل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الخندق (Moat): التكامل. نعرف متى تحتاج المرأة ماذا — ونقدّمه لها في اللحظة الصحيحة. دورة بيانات لا يكرّرها أي منافس أحادي.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هوية البراند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الركائز الأربع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2148840"/>
            <a:ext cx="457200" cy="45720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الثقة — أمان طبي وخصوصية صارمة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94960" y="2862072"/>
            <a:ext cx="457200" cy="45720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8620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القرب — دفء أختٍ كبرى لا برود آلة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94960" y="3575304"/>
            <a:ext cx="457200" cy="45720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5753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الأصالة — عربية ومراعية للثقافة والدين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94960" y="4288536"/>
            <a:ext cx="457200" cy="45720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2885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التمكين — المعرفة والأدوات بين يديها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6811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الصوت والنبرة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دافئ، واثق، مطمْئِن. نقول: «لا تقلقي، هذا طبيعي في هذه المرحلة 💗» — لا لغة طبية باردة ولا وعظ.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468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34015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الألوان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0" y="38862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00897B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5902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43216" y="38862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E91E63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97496" y="45902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وردي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85632" y="38862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6A1B4D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45902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برقوقي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28048" y="38862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C9A24B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2328" y="45902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ذهبي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70464" y="38862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24744" y="45902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كريمي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4892040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i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الاسم: «نبضة» = نبض قلب الأم + أول نبضة للجنين + نبض الحياة.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 العلامة: نبضة+ · متجر نبضة · صندوق نبضة · عيادة نبضة · أكاديمية نبضة · مجتمع نبضة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المنتجات عبر كل المجالات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1051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💎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رقمية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نبضة+ اشتراك، وضع الشريك، تقارير للطبيب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81051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8105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👩‍⚕️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76672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صحية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35424" y="26060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استشارات عن بُعد، اسألي طبيبة، خطط تغذية، دعم نفسي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0144" y="155448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181051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8105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07424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متجر نبضة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66176" y="26060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ملابس حمل ومولود، لوازم طفل، رضاعة، عناية، أجهزة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1422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422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4592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صناديق اشتراك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4672" y="49377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صندوق الحمل، صندوق الطفل الشهري، صندوق التعافي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79392" y="38862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41422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53712" y="41422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376672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وتعليم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35424" y="49377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دورات، أدلّة، ندوات، محتوى ديني وروحي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10144" y="38862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84464" y="41422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284464" y="41422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107424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وبيانات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66176" y="49377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إعلانات، رؤى مجهّلة، عيّنات، White-Label، شراكات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النمو القاتل: البيع الموجّه بالمرحلة + العلامة الخاصة + الدفع عند الاستلام.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الربح — خمسة تيّارات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35640" y="1691640"/>
            <a:ext cx="502920" cy="50292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5" name="Text 3"/>
          <p:cNvSpPr/>
          <p:nvPr/>
        </p:nvSpPr>
        <p:spPr>
          <a:xfrm>
            <a:off x="10835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0" y="15087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التجارة + العلامة الخاصة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فورية · المغرب العربي ومصر (COD) · هامش 25–50%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35640" y="2660904"/>
            <a:ext cx="502920" cy="50292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10" name="Text 8"/>
          <p:cNvSpPr/>
          <p:nvPr/>
        </p:nvSpPr>
        <p:spPr>
          <a:xfrm>
            <a:off x="10835640" y="2660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47802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الإعلانات والرعاية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478024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فورية · كل الأسواق · CPM ورعايات موسمية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835640" y="3630168"/>
            <a:ext cx="502920" cy="50292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15" name="Text 13"/>
          <p:cNvSpPr/>
          <p:nvPr/>
        </p:nvSpPr>
        <p:spPr>
          <a:xfrm>
            <a:off x="10835640" y="3630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344728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نبضة+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3447288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متوسّطة · الخليج أولاً · سعر متدرّج بحسب السوق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416552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835640" y="4599432"/>
            <a:ext cx="502920" cy="50292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835640" y="4599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4416552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صناديق الاشتراك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416552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متوسّطة · دخل متكرّر مرتفع الولاء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385816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835640" y="5568696"/>
            <a:ext cx="502920" cy="502920"/>
          </a:xfrm>
          <a:prstGeom prst="ellipse">
            <a:avLst/>
          </a:prstGeom>
          <a:solidFill>
            <a:srgbClr val="FDEEF3"/>
          </a:solidFill>
          <a:ln/>
        </p:spPr>
      </p:sp>
      <p:sp>
        <p:nvSpPr>
          <p:cNvPr id="25" name="Text 23"/>
          <p:cNvSpPr/>
          <p:nvPr/>
        </p:nvSpPr>
        <p:spPr>
          <a:xfrm>
            <a:off x="10835640" y="5568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83680" y="5385816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الاستشارات عن بُعد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5385816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لاحقة · الخليج · عمولة 15–30% لكل استشارة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4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الذهبية: القمع المجاني يُموَّل بالتجارة والإعلان — والاشتراك كرزٌ على الكعكة.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الدخول للسوق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011680"/>
            <a:ext cx="731520" cy="7315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· 0–6 أشهر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الجزائر والمغرب العربي: تطبيق مجاني + متجر COD + إعلانات. الهدف: نقد سريع وإثبات دورة «مرحلة ← بيع».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080" y="3474720"/>
            <a:ext cx="164592" cy="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79392" y="173736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50992" y="2011680"/>
            <a:ext cx="731520" cy="73152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12" name="Text 10"/>
          <p:cNvSpPr/>
          <p:nvPr/>
        </p:nvSpPr>
        <p:spPr>
          <a:xfrm>
            <a:off x="565099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62272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62272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الحجم · 6–15 شهر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53712" y="3794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مصر: محتوى وSEO ومجتمع وإعلانات + فودافون كاش/فوري. الهدف: ملايين التحميلات وبناء العلامة.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99832" y="3474720"/>
            <a:ext cx="164592" cy="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10144" y="173736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81744" y="2011680"/>
            <a:ext cx="731520" cy="731520"/>
          </a:xfrm>
          <a:prstGeom prst="ellipse">
            <a:avLst/>
          </a:prstGeom>
          <a:solidFill>
            <a:srgbClr val="6A1B4D"/>
          </a:solidFill>
          <a:ln/>
        </p:spPr>
      </p:sp>
      <p:sp>
        <p:nvSpPr>
          <p:cNvPr id="19" name="Text 17"/>
          <p:cNvSpPr/>
          <p:nvPr/>
        </p:nvSpPr>
        <p:spPr>
          <a:xfrm>
            <a:off x="938174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193024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93024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· 15–30 شهر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84464" y="3794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الخليج: نبضة+ واستشارات ومتجر مميّز وصناديق. الهدف: رفع ARPU وربحية قوية.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محرّكات النمو: محتوى عضوي · سفيرات نبضة · حلقة المرحلة · إعلانات أداء تموّل نفسها.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ومؤشّرات النجاح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المخاطر والتخفيف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buSzPct val="100000"/>
              <a:buChar char="•"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الخصوصية → شفافية وتشفير وعدم بيع بيانات فردية</a:t>
            </a:r>
            <a:endParaRPr lang="en-US" sz="1400" dirty="0"/>
          </a:p>
          <a:p>
            <a:pPr algn="r" marL="342900" indent="-342900">
              <a:buSzPct val="100000"/>
              <a:buChar char="•"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الاستعداد للدفع → أساسه التجارة والإعلان</a:t>
            </a:r>
            <a:endParaRPr lang="en-US" sz="1400" dirty="0"/>
          </a:p>
          <a:p>
            <a:pPr algn="r" marL="342900" indent="-342900">
              <a:buSzPct val="100000"/>
              <a:buChar char="•"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المصداقية الطبية → مجلس طبيبات ومراجعة محتوى</a:t>
            </a:r>
            <a:endParaRPr lang="en-US" sz="1400" dirty="0"/>
          </a:p>
          <a:p>
            <a:pPr algn="r" marL="342900" indent="-342900">
              <a:buSzPct val="100000"/>
              <a:buChar char="•"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تعريب المنافسين → عمق ثقافي وتجارة ومجتمع</a:t>
            </a:r>
            <a:endParaRPr lang="en-US" sz="1400" dirty="0"/>
          </a:p>
          <a:p>
            <a:pPr algn="r" marL="342900" indent="-342900">
              <a:buSzPct val="100000"/>
              <a:buChar char="•"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الدين التقني → تأمين المفاتيح وهيكلة الحالة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468112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مؤشّرات الأداء (KPIs)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40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6243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التحميلات · MAU/DAU · CAC · الاحتفاظ D30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72160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 · متوسّط الطلب · LTV · LTV/CAC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4434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الالتصاق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8188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المجتمع · استخدام المساعد · تكرار الشراء · NPS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5029200" cy="5029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4572000" cy="4572000"/>
          </a:xfrm>
          <a:prstGeom prst="ellipse">
            <a:avLst/>
          </a:prstGeom>
          <a:solidFill>
            <a:srgbClr val="6A1B4D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515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559552" y="1691640"/>
            <a:ext cx="189281" cy="0"/>
          </a:xfrm>
          <a:prstGeom prst="line">
            <a:avLst/>
          </a:prstGeom>
          <a:noFill/>
          <a:ln w="31750">
            <a:solidFill>
              <a:srgbClr val="E91E63"/>
            </a:solidFill>
            <a:prstDash val="solid"/>
            <a:headEnd type="none"/>
          </a:ln>
        </p:spPr>
      </p:sp>
      <p:sp>
        <p:nvSpPr>
          <p:cNvPr id="6" name="Shape 4"/>
          <p:cNvSpPr/>
          <p:nvPr/>
        </p:nvSpPr>
        <p:spPr>
          <a:xfrm>
            <a:off x="5748833" y="1691640"/>
            <a:ext cx="73609" cy="-160020"/>
          </a:xfrm>
          <a:prstGeom prst="line">
            <a:avLst/>
          </a:prstGeom>
          <a:noFill/>
          <a:ln w="31750">
            <a:solidFill>
              <a:srgbClr val="E91E63"/>
            </a:solidFill>
            <a:prstDash val="solid"/>
            <a:headEnd type="none"/>
          </a:ln>
        </p:spPr>
      </p:sp>
      <p:sp>
        <p:nvSpPr>
          <p:cNvPr id="7" name="Shape 5"/>
          <p:cNvSpPr/>
          <p:nvPr/>
        </p:nvSpPr>
        <p:spPr>
          <a:xfrm>
            <a:off x="5822442" y="1531620"/>
            <a:ext cx="115672" cy="320040"/>
          </a:xfrm>
          <a:prstGeom prst="line">
            <a:avLst/>
          </a:prstGeom>
          <a:noFill/>
          <a:ln w="31750">
            <a:solidFill>
              <a:srgbClr val="E91E63"/>
            </a:solidFill>
            <a:prstDash val="solid"/>
            <a:headEnd type="none"/>
          </a:ln>
        </p:spPr>
      </p:sp>
      <p:sp>
        <p:nvSpPr>
          <p:cNvPr id="8" name="Shape 6"/>
          <p:cNvSpPr/>
          <p:nvPr/>
        </p:nvSpPr>
        <p:spPr>
          <a:xfrm>
            <a:off x="5938114" y="1851660"/>
            <a:ext cx="94640" cy="-228600"/>
          </a:xfrm>
          <a:prstGeom prst="line">
            <a:avLst/>
          </a:prstGeom>
          <a:noFill/>
          <a:ln w="31750">
            <a:solidFill>
              <a:srgbClr val="E91E63"/>
            </a:solidFill>
            <a:prstDash val="solid"/>
            <a:headEnd type="none"/>
          </a:ln>
        </p:spPr>
      </p:sp>
      <p:sp>
        <p:nvSpPr>
          <p:cNvPr id="9" name="Shape 7"/>
          <p:cNvSpPr/>
          <p:nvPr/>
        </p:nvSpPr>
        <p:spPr>
          <a:xfrm>
            <a:off x="6032754" y="1623060"/>
            <a:ext cx="52578" cy="68580"/>
          </a:xfrm>
          <a:prstGeom prst="line">
            <a:avLst/>
          </a:prstGeom>
          <a:noFill/>
          <a:ln w="31750">
            <a:solidFill>
              <a:srgbClr val="E91E63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6085332" y="1691640"/>
            <a:ext cx="525780" cy="0"/>
          </a:xfrm>
          <a:prstGeom prst="line">
            <a:avLst/>
          </a:prstGeom>
          <a:noFill/>
          <a:ln w="31750">
            <a:solidFill>
              <a:srgbClr val="E91E63"/>
            </a:solidFill>
            <a:prstDash val="solid"/>
            <a:headEnd type="none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النبضة الواحدة تصبح منظومة كاملة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الرحلة الكاملة + الأصالة الثقافية + بنية تجارة جاهزة = ريادة السوق العربي.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4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ابدئي بالتجارة للنقد · ابنِ العلامة بالمحتوى والمجتمع · اقطفي القيمة من الخليج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 — كل نبضة حب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نبضة — عرض تقديمي</dc:title>
  <dc:subject>PptxGenJS Presentation</dc:subject>
  <dc:creator>Nabda</dc:creator>
  <cp:lastModifiedBy>Nabda</cp:lastModifiedBy>
  <cp:revision>1</cp:revision>
  <dcterms:created xsi:type="dcterms:W3CDTF">2026-07-06T22:14:52Z</dcterms:created>
  <dcterms:modified xsi:type="dcterms:W3CDTF">2026-07-06T22:14:52Z</dcterms:modified>
</cp:coreProperties>
</file>